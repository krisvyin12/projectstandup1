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D698A1-501B-444F-A7C8-A9FD60FF9CCF}" v="76" dt="2025-11-02T11:50:29.4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1128" y="704165"/>
            <a:ext cx="6709589" cy="767008"/>
          </a:xfrm>
        </p:spPr>
        <p:txBody>
          <a:bodyPr>
            <a:normAutofit fontScale="90000"/>
          </a:bodyPr>
          <a:lstStyle/>
          <a:p>
            <a:r>
              <a:rPr lang="en-US" sz="3200" dirty="0" err="1"/>
              <a:t>Visualising</a:t>
            </a:r>
            <a:r>
              <a:rPr lang="en-US" sz="3200" dirty="0"/>
              <a:t> Road Safety Enforcement Trends in Australia (2008–2024)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1133" y="2045202"/>
            <a:ext cx="6269347" cy="4450489"/>
          </a:xfrm>
        </p:spPr>
        <p:txBody>
          <a:bodyPr>
            <a:normAutofit fontScale="85000" lnSpcReduction="10000"/>
          </a:bodyPr>
          <a:lstStyle/>
          <a:p>
            <a:r>
              <a:rPr lang="en-MY" dirty="0"/>
              <a:t>Team: </a:t>
            </a:r>
            <a:r>
              <a:rPr lang="en-MY" dirty="0" err="1"/>
              <a:t>DataVision</a:t>
            </a:r>
            <a:endParaRPr lang="en-MY" dirty="0"/>
          </a:p>
          <a:p>
            <a:r>
              <a:rPr lang="en-MY" dirty="0"/>
              <a:t>Members: Krisvyin Selvaraja, Kugendran </a:t>
            </a:r>
            <a:r>
              <a:rPr lang="en-MY" dirty="0" err="1"/>
              <a:t>Mageshwaran</a:t>
            </a:r>
            <a:r>
              <a:rPr lang="en-MY" dirty="0"/>
              <a:t>, Ivan Jeremy Joseph</a:t>
            </a:r>
          </a:p>
          <a:p>
            <a:r>
              <a:rPr lang="en-MY" dirty="0"/>
              <a:t>Unit: COS30045 – Data Visualisation</a:t>
            </a:r>
          </a:p>
          <a:p>
            <a:r>
              <a:rPr lang="en-MY" dirty="0"/>
              <a:t>Tutor: Mohamad Faizal Alias</a:t>
            </a:r>
          </a:p>
          <a:p>
            <a:endParaRPr lang="en-MY" dirty="0"/>
          </a:p>
          <a:p>
            <a:r>
              <a:rPr lang="en-US" dirty="0"/>
              <a:t>Goal: Build an interactive D3.js dashboard using BITRE Road Safety Enforcement data to explore fines, arrests, and testing trends across Australia.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4971" y="673791"/>
            <a:ext cx="10807172" cy="4010352"/>
          </a:xfrm>
        </p:spPr>
        <p:txBody>
          <a:bodyPr anchor="ctr">
            <a:normAutofit/>
          </a:bodyPr>
          <a:lstStyle/>
          <a:p>
            <a:r>
              <a:rPr lang="en-US" sz="3200" dirty="0"/>
              <a:t>• Created GitHub repository and collaboration channel</a:t>
            </a:r>
            <a:br>
              <a:rPr lang="en-US" sz="3200" dirty="0"/>
            </a:br>
            <a:r>
              <a:rPr lang="en-US" sz="3200" dirty="0"/>
              <a:t>• Selected official topic: Australian Road Safety Enforcement (BITRE)</a:t>
            </a:r>
            <a:br>
              <a:rPr lang="en-US" sz="3200" dirty="0"/>
            </a:br>
            <a:r>
              <a:rPr lang="en-US" sz="3200" dirty="0"/>
              <a:t>• Drafted introduction, motivation, and purpose</a:t>
            </a:r>
            <a:br>
              <a:rPr lang="en-US" sz="3200" dirty="0"/>
            </a:br>
            <a:r>
              <a:rPr lang="en-US" sz="3200" dirty="0"/>
              <a:t>• Identified dataset source and governance from BITRE</a:t>
            </a:r>
            <a:br>
              <a:rPr lang="en-US" sz="3200" dirty="0"/>
            </a:br>
            <a:r>
              <a:rPr lang="en-US" sz="3200" dirty="0"/>
              <a:t>• Planned KNIME workflow for data cleaning and aggregation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412" y="5294251"/>
            <a:ext cx="10795775" cy="1072043"/>
          </a:xfrm>
        </p:spPr>
        <p:txBody>
          <a:bodyPr>
            <a:normAutofit/>
          </a:bodyPr>
          <a:lstStyle/>
          <a:p>
            <a:r>
              <a:rPr lang="en-MY" sz="4000" dirty="0"/>
              <a:t>Work Completed</a:t>
            </a: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D0E6E-9A7F-4270-41F0-3B7152FE1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188004C5-1C43-3CB3-B5EB-DF5F814D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83FAD0-F2EC-D6FF-622E-81AC2B0CD8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42" y="0"/>
            <a:ext cx="12268303" cy="5684808"/>
          </a:xfrm>
        </p:spPr>
        <p:txBody>
          <a:bodyPr anchor="ctr">
            <a:normAutofit/>
          </a:bodyPr>
          <a:lstStyle/>
          <a:p>
            <a:r>
              <a:rPr lang="en-MY" sz="2000" dirty="0"/>
              <a:t>Dataset: Road Safety Enforcement Data (2008–2024)</a:t>
            </a:r>
            <a:br>
              <a:rPr lang="en-MY" sz="2000" dirty="0"/>
            </a:br>
            <a:r>
              <a:rPr lang="en-MY" sz="2000" dirty="0"/>
              <a:t>Source: Bureau of Infrastructure and Transport Research Economics (BITRE)</a:t>
            </a:r>
            <a:br>
              <a:rPr lang="en-MY" sz="2000" dirty="0"/>
            </a:br>
            <a:r>
              <a:rPr lang="en-MY" sz="2000" dirty="0"/>
              <a:t>URL: https://www.bitre.gov.au/statistics/safety</a:t>
            </a:r>
            <a:br>
              <a:rPr lang="en-MY" sz="2000" dirty="0"/>
            </a:br>
            <a:br>
              <a:rPr lang="en-MY" sz="2000" dirty="0"/>
            </a:br>
            <a:r>
              <a:rPr lang="en-MY" sz="2000" dirty="0"/>
              <a:t>Attributes:</a:t>
            </a:r>
            <a:br>
              <a:rPr lang="en-MY" sz="2000" dirty="0"/>
            </a:br>
            <a:r>
              <a:rPr lang="en-MY" sz="2000" dirty="0"/>
              <a:t>- Year (numeric)</a:t>
            </a:r>
            <a:br>
              <a:rPr lang="en-MY" sz="2000" dirty="0"/>
            </a:br>
            <a:r>
              <a:rPr lang="en-MY" sz="2000" dirty="0"/>
              <a:t>- State/Territory (categorical)</a:t>
            </a:r>
            <a:br>
              <a:rPr lang="en-MY" sz="2000" dirty="0"/>
            </a:br>
            <a:r>
              <a:rPr lang="en-MY" sz="2000" dirty="0"/>
              <a:t>- Offence Type (categorical)</a:t>
            </a:r>
            <a:br>
              <a:rPr lang="en-MY" sz="2000" dirty="0"/>
            </a:br>
            <a:r>
              <a:rPr lang="en-MY" sz="2000" dirty="0"/>
              <a:t>- Enforcement Count (quantitative)</a:t>
            </a:r>
            <a:br>
              <a:rPr lang="en-MY" sz="2000" dirty="0"/>
            </a:br>
            <a:r>
              <a:rPr lang="en-MY" sz="2000" dirty="0"/>
              <a:t>- Age Group (categorical)</a:t>
            </a:r>
            <a:br>
              <a:rPr lang="en-MY" sz="2000" dirty="0"/>
            </a:br>
            <a:r>
              <a:rPr lang="en-MY" sz="2000" dirty="0"/>
              <a:t>- Arrests/Charges (quantitative)</a:t>
            </a:r>
            <a:br>
              <a:rPr lang="en-MY" sz="2000" dirty="0"/>
            </a:br>
            <a:br>
              <a:rPr lang="en-MY" sz="2000" dirty="0"/>
            </a:br>
            <a:r>
              <a:rPr lang="en-MY" sz="2000" dirty="0"/>
              <a:t>Governance: Publicly available under Australian open </a:t>
            </a:r>
            <a:r>
              <a:rPr lang="en-MY" sz="2400" dirty="0"/>
              <a:t>data license.</a:t>
            </a:r>
            <a:endParaRPr lang="en-MY" sz="20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65CD54B-8C7B-A353-E56E-7AE72AC1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E4037-8676-24D0-DD33-5A99C8163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412" y="5294251"/>
            <a:ext cx="10795775" cy="1072043"/>
          </a:xfrm>
        </p:spPr>
        <p:txBody>
          <a:bodyPr>
            <a:normAutofit/>
          </a:bodyPr>
          <a:lstStyle/>
          <a:p>
            <a:r>
              <a:rPr lang="en-MY" sz="4000" dirty="0"/>
              <a:t>Dataset Overview</a:t>
            </a: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219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636B5-9702-55AC-48C3-20F113360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1D0FF574-9693-CA3E-F28E-65A83FEBD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BCE2D7-3AAD-8535-80A7-395733BF8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61" y="88633"/>
            <a:ext cx="10058400" cy="4864367"/>
          </a:xfrm>
        </p:spPr>
        <p:txBody>
          <a:bodyPr anchor="ctr">
            <a:normAutofit fontScale="90000"/>
          </a:bodyPr>
          <a:lstStyle/>
          <a:p>
            <a:r>
              <a:rPr lang="en-US" sz="3100" dirty="0"/>
              <a:t>KNIME Steps:</a:t>
            </a:r>
            <a:br>
              <a:rPr lang="en-US" sz="3100" dirty="0"/>
            </a:br>
            <a:r>
              <a:rPr lang="en-US" sz="3100" dirty="0"/>
              <a:t>1. Import CSV</a:t>
            </a:r>
            <a:br>
              <a:rPr lang="en-US" sz="3100" dirty="0"/>
            </a:br>
            <a:r>
              <a:rPr lang="en-US" sz="3100" dirty="0"/>
              <a:t>2. Handle missing values</a:t>
            </a:r>
            <a:br>
              <a:rPr lang="en-US" sz="3100" dirty="0"/>
            </a:br>
            <a:r>
              <a:rPr lang="en-US" sz="3100" dirty="0"/>
              <a:t>3. Aggregate by year/state</a:t>
            </a:r>
            <a:br>
              <a:rPr lang="en-US" sz="3100" dirty="0"/>
            </a:br>
            <a:r>
              <a:rPr lang="en-US" sz="3100" dirty="0"/>
              <a:t>4. Export clean data</a:t>
            </a:r>
            <a:br>
              <a:rPr lang="en-US" sz="3100" dirty="0"/>
            </a:br>
            <a:br>
              <a:rPr lang="en-US" sz="3100" dirty="0"/>
            </a:br>
            <a:r>
              <a:rPr lang="en-US" sz="3100" dirty="0"/>
              <a:t>Planned </a:t>
            </a:r>
            <a:r>
              <a:rPr lang="en-US" sz="3100" dirty="0" err="1"/>
              <a:t>Visualisations</a:t>
            </a:r>
            <a:r>
              <a:rPr lang="en-US" sz="3100" dirty="0"/>
              <a:t>:</a:t>
            </a:r>
            <a:br>
              <a:rPr lang="en-US" sz="3100" dirty="0"/>
            </a:br>
            <a:r>
              <a:rPr lang="en-US" sz="3100" dirty="0"/>
              <a:t>- Line chart: Enforcement trends over time</a:t>
            </a:r>
            <a:br>
              <a:rPr lang="en-US" sz="3100" dirty="0"/>
            </a:br>
            <a:r>
              <a:rPr lang="en-US" sz="3100" dirty="0"/>
              <a:t>- Bar chart: Offence counts by state or type</a:t>
            </a:r>
            <a:br>
              <a:rPr lang="en-US" sz="3100" dirty="0"/>
            </a:br>
            <a:r>
              <a:rPr lang="en-US" sz="3100" dirty="0"/>
              <a:t>- Map: Choropleth showing enforcement density per state</a:t>
            </a:r>
            <a:br>
              <a:rPr lang="en-US" sz="3100" dirty="0"/>
            </a:br>
            <a:r>
              <a:rPr lang="en-US" sz="3100" dirty="0"/>
              <a:t>- Interactive filters: Year, State, Offence Type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D19DBC7-3C19-5F82-BEB8-957D33C93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8A6208-0881-44F3-5872-6F9A442E8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412" y="5294251"/>
            <a:ext cx="10795775" cy="1072043"/>
          </a:xfrm>
        </p:spPr>
        <p:txBody>
          <a:bodyPr>
            <a:normAutofit/>
          </a:bodyPr>
          <a:lstStyle/>
          <a:p>
            <a:r>
              <a:rPr lang="en-MY" sz="4000" dirty="0"/>
              <a:t>Planned KNIME &amp; Visualisation Design</a:t>
            </a: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918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DDA953-134E-B8B7-B8D4-40A29C3AA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E554BD-5EC2-9933-B44E-A60536BCA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69748B-3218-3241-4D5E-24876F3306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61" y="88633"/>
            <a:ext cx="10058400" cy="4864367"/>
          </a:xfrm>
        </p:spPr>
        <p:txBody>
          <a:bodyPr anchor="ctr">
            <a:normAutofit/>
          </a:bodyPr>
          <a:lstStyle/>
          <a:p>
            <a:r>
              <a:rPr lang="en-MY" sz="3200" dirty="0"/>
              <a:t>•</a:t>
            </a:r>
            <a:r>
              <a:rPr lang="en-US" sz="3200" dirty="0"/>
              <a:t> BITRE data split across multiple CSV files requiring merging</a:t>
            </a:r>
            <a:br>
              <a:rPr lang="en-US" sz="3200" dirty="0"/>
            </a:br>
            <a:r>
              <a:rPr lang="en-US" sz="3200" dirty="0"/>
              <a:t>• Unclear column definitions (offence vs enforcement type)</a:t>
            </a:r>
            <a:br>
              <a:rPr lang="en-US" sz="3200" dirty="0"/>
            </a:br>
            <a:r>
              <a:rPr lang="en-US" sz="3200" dirty="0"/>
              <a:t>• Learning D3 map projections and </a:t>
            </a:r>
            <a:r>
              <a:rPr lang="en-US" sz="3200" dirty="0" err="1"/>
              <a:t>GeoJSON</a:t>
            </a:r>
            <a:r>
              <a:rPr lang="en-US" sz="3200" dirty="0"/>
              <a:t> mapping</a:t>
            </a:r>
            <a:br>
              <a:rPr lang="en-US" sz="3200" dirty="0"/>
            </a:br>
            <a:r>
              <a:rPr lang="en-US" sz="3200" dirty="0"/>
              <a:t>• Time constraints and coordinating KNIME + D3 integration</a:t>
            </a:r>
            <a:br>
              <a:rPr lang="en-US" sz="3200" dirty="0"/>
            </a:br>
            <a:endParaRPr lang="en-MY" sz="32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A00ED46-476A-A35E-F330-986CDD539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637410-6762-B2B7-1574-F5C8986DB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412" y="5294251"/>
            <a:ext cx="10795775" cy="1072043"/>
          </a:xfrm>
        </p:spPr>
        <p:txBody>
          <a:bodyPr>
            <a:normAutofit/>
          </a:bodyPr>
          <a:lstStyle/>
          <a:p>
            <a:r>
              <a:rPr lang="en-MY" sz="4000" dirty="0"/>
              <a:t>Blockers &amp; Challenges</a:t>
            </a: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31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FB617-A8A8-F62E-86AA-9258F2DE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24217BB7-8588-D1E0-C6CE-CA7403CC0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7F1B9-5CF9-E2DF-7FDE-E282EBE91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861" y="88633"/>
            <a:ext cx="10058400" cy="4864367"/>
          </a:xfrm>
        </p:spPr>
        <p:txBody>
          <a:bodyPr anchor="ctr">
            <a:normAutofit fontScale="90000"/>
          </a:bodyPr>
          <a:lstStyle/>
          <a:p>
            <a:r>
              <a:rPr lang="en-US" sz="3200" dirty="0"/>
              <a:t>• Complete KNIME cleaning and create summary tables</a:t>
            </a:r>
            <a:br>
              <a:rPr lang="en-US" sz="3200" dirty="0"/>
            </a:br>
            <a:r>
              <a:rPr lang="en-US" sz="3200" dirty="0"/>
              <a:t>• Generate basic exploratory charts in D3.js</a:t>
            </a:r>
            <a:br>
              <a:rPr lang="en-US" sz="3200" dirty="0"/>
            </a:br>
            <a:r>
              <a:rPr lang="en-US" sz="3200" dirty="0"/>
              <a:t>• Build interactive filters and map </a:t>
            </a:r>
            <a:r>
              <a:rPr lang="en-US" sz="3200" dirty="0" err="1"/>
              <a:t>visualisation</a:t>
            </a:r>
            <a:br>
              <a:rPr lang="en-US" sz="3200" dirty="0"/>
            </a:br>
            <a:r>
              <a:rPr lang="en-US" sz="3200" dirty="0"/>
              <a:t>• Update Process Book and slides for Stand-Up 2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AI Declaration:</a:t>
            </a:r>
            <a:br>
              <a:rPr lang="en-US" sz="3200" dirty="0"/>
            </a:br>
            <a:r>
              <a:rPr lang="en-US" sz="3200" dirty="0"/>
              <a:t>ChatGPT (GPT-5) was used only to enhance clarity, formatting, and consistency.</a:t>
            </a:r>
            <a:br>
              <a:rPr lang="en-US" sz="3200" dirty="0"/>
            </a:br>
            <a:r>
              <a:rPr lang="en-US" sz="3200" dirty="0"/>
              <a:t>All design, coding, and analysis decisions are by the </a:t>
            </a:r>
            <a:r>
              <a:rPr lang="en-US" sz="3200" dirty="0" err="1"/>
              <a:t>DataVision</a:t>
            </a:r>
            <a:r>
              <a:rPr lang="en-US" sz="3200" dirty="0"/>
              <a:t> team.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DC67405-B644-F8DF-7237-899FB9339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F5B34-D602-5833-D5CF-84F349346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2412" y="5294251"/>
            <a:ext cx="10795775" cy="1072043"/>
          </a:xfrm>
        </p:spPr>
        <p:txBody>
          <a:bodyPr>
            <a:normAutofit/>
          </a:bodyPr>
          <a:lstStyle/>
          <a:p>
            <a:r>
              <a:rPr lang="en-MY" sz="4000" dirty="0"/>
              <a:t>Next Steps &amp; Submission</a:t>
            </a:r>
            <a:endParaRPr lang="en-US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736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D56DB3-86C1-6C81-D3B9-790A75D46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1A82C0B-6FA2-0149-2B59-CB9197F9C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014933-D3E1-FCAF-DC17-22275E1AF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9206" y="682230"/>
            <a:ext cx="6709589" cy="767008"/>
          </a:xfrm>
        </p:spPr>
        <p:txBody>
          <a:bodyPr>
            <a:normAutofit/>
          </a:bodyPr>
          <a:lstStyle/>
          <a:p>
            <a:r>
              <a:rPr lang="en-US" sz="3200" dirty="0"/>
              <a:t>THANK YOU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6CBFE996-AEED-23E6-65D8-23FB990665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FED46B5-E14C-CB49-4241-1B9C2F8AF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69BCAD55-C526-4D89-9D25-F1A386AAD472}"/>
              </a:ext>
            </a:extLst>
          </p:cNvPr>
          <p:cNvSpPr txBox="1">
            <a:spLocks/>
          </p:cNvSpPr>
          <p:nvPr/>
        </p:nvSpPr>
        <p:spPr>
          <a:xfrm>
            <a:off x="6096000" y="4641754"/>
            <a:ext cx="6709589" cy="767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8546680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{F0A19506-AE6F-42C0-9247-716073811619}tf56160789_win32</Template>
  <TotalTime>1658</TotalTime>
  <Words>414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Bookman Old Style</vt:lpstr>
      <vt:lpstr>Calibri</vt:lpstr>
      <vt:lpstr>Franklin Gothic Book</vt:lpstr>
      <vt:lpstr>Custom</vt:lpstr>
      <vt:lpstr>Visualising Road Safety Enforcement Trends in Australia (2008–2024)</vt:lpstr>
      <vt:lpstr>• Created GitHub repository and collaboration channel • Selected official topic: Australian Road Safety Enforcement (BITRE) • Drafted introduction, motivation, and purpose • Identified dataset source and governance from BITRE • Planned KNIME workflow for data cleaning and aggregation</vt:lpstr>
      <vt:lpstr>Dataset: Road Safety Enforcement Data (2008–2024) Source: Bureau of Infrastructure and Transport Research Economics (BITRE) URL: https://www.bitre.gov.au/statistics/safety  Attributes: - Year (numeric) - State/Territory (categorical) - Offence Type (categorical) - Enforcement Count (quantitative) - Age Group (categorical) - Arrests/Charges (quantitative)  Governance: Publicly available under Australian open data license.</vt:lpstr>
      <vt:lpstr>KNIME Steps: 1. Import CSV 2. Handle missing values 3. Aggregate by year/state 4. Export clean data  Planned Visualisations: - Line chart: Enforcement trends over time - Bar chart: Offence counts by state or type - Map: Choropleth showing enforcement density per state - Interactive filters: Year, State, Offence Type </vt:lpstr>
      <vt:lpstr>• BITRE data split across multiple CSV files requiring merging • Unclear column definitions (offence vs enforcement type) • Learning D3 map projections and GeoJSON mapping • Time constraints and coordinating KNIME + D3 integration </vt:lpstr>
      <vt:lpstr>• Complete KNIME cleaning and create summary tables • Generate basic exploratory charts in D3.js • Build interactive filters and map visualisation • Update Process Book and slides for Stand-Up 2  AI Declaration: ChatGPT (GPT-5) was used only to enhance clarity, formatting, and consistency. All design, coding, and analysis decisions are by the DataVision team.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krisvyin selvaraja</dc:creator>
  <cp:lastModifiedBy>krisvyin selvaraja</cp:lastModifiedBy>
  <cp:revision>2</cp:revision>
  <dcterms:created xsi:type="dcterms:W3CDTF">2025-11-01T08:14:05Z</dcterms:created>
  <dcterms:modified xsi:type="dcterms:W3CDTF">2025-11-02T12:29:32Z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